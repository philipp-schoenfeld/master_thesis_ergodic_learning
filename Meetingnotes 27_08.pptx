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  <p:sldId id="267" r:id="rId9"/>
    <p:sldId id="266" r:id="rId10"/>
    <p:sldId id="268" r:id="rId11"/>
    <p:sldId id="261" r:id="rId12"/>
    <p:sldId id="262" r:id="rId13"/>
    <p:sldId id="269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222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C51C9-B7E0-41FC-8998-1693002E0C6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53800-3D6A-483E-BD06-7EFFDBEF8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6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53800-3D6A-483E-BD06-7EFFDBEF82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7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C8A6-15D1-A36A-589E-BCF71A44D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B0621-CCFF-290C-B439-A38A89787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598F-BDCC-1D7B-62A7-1E100BD1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59F0F-411A-B740-F6BF-3761BB27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6AA40-0D0A-4514-BB04-B062627F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6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E498-E410-6D8D-A4EF-0D830510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03FD9-3B2D-8AF0-310E-183FDEDE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D7D0E-8769-D1A2-F3E7-A89DE164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AE176-BC24-7D84-D655-1AB85ACC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FC73B-ED66-6388-FCC1-0F2BBBC8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CBAC-BEF5-6192-81E0-1FB4D8C7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E2605-D92B-5FD2-6BA9-B3E6A2937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CB7D-CFBF-A7DA-6490-032A732C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A4F2-5C02-64B9-7522-110BB72A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86FAA-2F27-170A-2ACF-8C4B4091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1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8D1F-A05D-DD76-B763-8E4F5BC5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5067D-2731-2A52-B981-942B6EE7A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B7777-879F-6BAF-79A8-EF47DA3E0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E6947-C313-8CCB-41B5-A886D72A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892E4-6B3A-78A9-3E57-AC989B97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FC4A4-F73C-B44E-554A-E25696E1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4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520B-957B-0E7E-7A71-2FFD5282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74C8-B1AB-7414-717F-69F2A58AF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85790-238F-7DCE-37C7-F1B2E8E58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5A89C-4D8B-54FE-BEC2-7D0069C98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FD6B2-EBBC-3A57-E8EF-417FB504A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5AE9E-DA80-6E63-6B5D-5B6E86BE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BD0A7-B23B-9C83-2A5E-584A8C94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41D22-41F4-0F88-1C1D-96D74376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2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73DD-5FF3-CEF1-682A-A4B4A7F3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93BA-3397-D399-FAD0-7AFB78F3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4E6F5-DACC-F1F7-2C2D-A12DBC54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FEF95-00EA-4C30-369C-3A716292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9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77A20-6003-27EB-B8E6-6F9AF26C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F4FDC-7F4B-7B18-0AA8-6285EAB7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261EA-EA80-CE05-A534-8D37A60E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8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A23A-6670-A6E7-235C-D06A4C2A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F574-28CA-A4C0-FC46-E1116CB7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4F3DF-B270-5C31-A4B2-EFCFE33C4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EA9D5-73B2-7B9D-3445-61A71AFF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345BA-A122-BD01-6856-C0799F5B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BE4BC-C6E5-B592-42B0-8E22295D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AC64-CA6B-CF36-0095-0CEAE7FC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89006-2F9D-2EA8-6A53-77E26B549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18F82-B55B-B7AD-DE42-43E1AAF25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3ED79-13B8-D831-2096-0118AD66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786B0-BBA7-C1DE-66CA-EA75FD6E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DBB70-4BF8-5D73-F720-E43F3D0C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5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9FA4-4720-6805-7AF0-37A6639B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92A92-6354-7D4B-61B5-05F5D1E3D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9196A-2F20-6FAE-ADFB-3921F2DD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E62D7-3138-3323-DA0C-9CE38C1B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1E85E-FF1C-8DDA-1A43-DD34BE68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9BDCC-4571-E525-6E51-FF95DD527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67AB8-F246-4C95-747F-18127437C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88047-1277-893D-66F7-08AD09C4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BBC6F-B7C9-9DB3-EF0F-21A56D28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2FF02-915C-3937-46CB-B624AC3A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6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18132-0294-3106-B6BF-6A77A62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6448-A15D-42AF-9897-CB41835E5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856D-C3CA-A7FE-7990-AC077D66D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45790-245E-4056-8C3B-22533864D29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3AC7E-4910-FE3B-C298-6E89E3251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58A3A-688A-BDBA-F98F-BAE969E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AFD84-5B41-455A-BB35-3FF35279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9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4A05-5519-D908-D0B8-F94462DB5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27.08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4368E-1EEA-7FB2-8324-7AC2BEAF3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C3B6-F0AF-1B30-DD4E-BC54E153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Ergodic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terms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E66A63-1AD7-FC0A-95F3-FC7CA0809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249626"/>
              </p:ext>
            </p:extLst>
          </p:nvPr>
        </p:nvGraphicFramePr>
        <p:xfrm>
          <a:off x="838200" y="1690688"/>
          <a:ext cx="10515600" cy="314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571888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1677539"/>
                    </a:ext>
                  </a:extLst>
                </a:gridCol>
              </a:tblGrid>
              <a:tr h="392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Ergodic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error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Fourrier</a:t>
                      </a:r>
                      <a:r>
                        <a:rPr lang="de-DE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2262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CFM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4,651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17044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λ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27717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λ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3,158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022999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λ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2,460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64180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λ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159277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λ =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826963"/>
                  </a:ext>
                </a:extLst>
              </a:tr>
              <a:tr h="392708">
                <a:tc>
                  <a:txBody>
                    <a:bodyPr/>
                    <a:lstStyle/>
                    <a:p>
                      <a:r>
                        <a:rPr lang="en-US" dirty="0"/>
                        <a:t>SVGD-Solver (“</a:t>
                      </a:r>
                      <a:r>
                        <a:rPr lang="en-US" dirty="0" err="1"/>
                        <a:t>Groundtruth</a:t>
                      </a:r>
                      <a:r>
                        <a:rPr lang="en-US" dirty="0"/>
                        <a:t>” from </a:t>
                      </a:r>
                      <a:r>
                        <a:rPr lang="en-US" dirty="0" err="1"/>
                        <a:t>db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2,709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74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6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89C2-8B79-81A9-EC94-1CE1BC97E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Ergodic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terms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717F6B-637D-5099-7FAC-78316EC26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725123"/>
              </p:ext>
            </p:extLst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30525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09273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λ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λ =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60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11D47CC-62F8-FABD-0279-57CE9AF2E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16" y="2196465"/>
            <a:ext cx="4016788" cy="4502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D871E-CC00-F233-1CE1-4E32D77C5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599" y="2196465"/>
            <a:ext cx="4016789" cy="45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9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7F34-EA43-AA0A-B3B8-3F840754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Belief as Target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C42B-846B-DE59-CF7A-4F3FB5AFC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5403850"/>
          </a:xfrm>
        </p:spPr>
        <p:txBody>
          <a:bodyPr>
            <a:normAutofit/>
          </a:bodyPr>
          <a:lstStyle/>
          <a:p>
            <a:r>
              <a:rPr lang="de-DE" dirty="0"/>
              <a:t>Combine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represented</a:t>
            </a:r>
            <a:r>
              <a:rPr lang="de-DE" dirty="0"/>
              <a:t> as GP: </a:t>
            </a:r>
          </a:p>
          <a:p>
            <a:pPr lvl="1"/>
            <a:r>
              <a:rPr lang="en-US" dirty="0"/>
              <a:t>μ(x) := known target distribution</a:t>
            </a:r>
          </a:p>
          <a:p>
            <a:pPr lvl="1"/>
            <a:r>
              <a:rPr lang="en-US" dirty="0"/>
              <a:t>σ(x) := uncertainty distribution</a:t>
            </a:r>
            <a:endParaRPr lang="de-DE" dirty="0"/>
          </a:p>
          <a:p>
            <a:pPr lvl="1"/>
            <a:r>
              <a:rPr lang="en-US" dirty="0"/>
              <a:t>Φ(x) = μ(x) + κ · σ(x)</a:t>
            </a:r>
          </a:p>
          <a:p>
            <a:pPr lvl="1"/>
            <a:endParaRPr lang="en-US" dirty="0"/>
          </a:p>
          <a:p>
            <a:r>
              <a:rPr lang="en-US" dirty="0"/>
              <a:t>Different planning approaches:</a:t>
            </a:r>
          </a:p>
          <a:p>
            <a:pPr lvl="1"/>
            <a:r>
              <a:rPr lang="en-US" dirty="0"/>
              <a:t>Ergodic planning on Φ(x)</a:t>
            </a:r>
          </a:p>
          <a:p>
            <a:pPr lvl="1"/>
            <a:r>
              <a:rPr lang="en-US" dirty="0"/>
              <a:t>First step exploration of σ(x), update μ(x) than exploitation of μ(x)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compromiss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Ergodic planning on Φ(x)</a:t>
            </a:r>
          </a:p>
          <a:p>
            <a:pPr lvl="2"/>
            <a:r>
              <a:rPr lang="en-US" dirty="0"/>
              <a:t>Execute part of path, update Φ(x) replan and continue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Problem: no </a:t>
            </a:r>
            <a:r>
              <a:rPr lang="en-US" dirty="0" err="1">
                <a:sym typeface="Wingdings" panose="05000000000000000000" pitchFamily="2" charset="2"/>
              </a:rPr>
              <a:t>startpiontconditioning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Trained on new databank with random </a:t>
            </a:r>
            <a:r>
              <a:rPr lang="en-US" dirty="0" err="1">
                <a:sym typeface="Wingdings" panose="05000000000000000000" pitchFamily="2" charset="2"/>
              </a:rPr>
              <a:t>startpoints</a:t>
            </a:r>
            <a:r>
              <a:rPr lang="en-US" dirty="0">
                <a:sym typeface="Wingdings" panose="05000000000000000000" pitchFamily="2" charset="2"/>
              </a:rPr>
              <a:t> and included </a:t>
            </a:r>
            <a:r>
              <a:rPr lang="en-US" dirty="0" err="1">
                <a:sym typeface="Wingdings" panose="05000000000000000000" pitchFamily="2" charset="2"/>
              </a:rPr>
              <a:t>starpointconditioning</a:t>
            </a:r>
            <a:r>
              <a:rPr lang="en-US" dirty="0">
                <a:sym typeface="Wingdings" panose="05000000000000000000" pitchFamily="2" charset="2"/>
              </a:rPr>
              <a:t> via FILM architecture (same as time conditioning)</a:t>
            </a:r>
            <a:endParaRPr lang="en-US" dirty="0"/>
          </a:p>
          <a:p>
            <a:pPr lvl="2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07683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D3B5-ABB0-8EF2-D49C-CC81007E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Belief as Target Density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F5E27-923C-C647-A235-B45E4DAEB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setup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Exploration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of </a:t>
            </a:r>
            <a:r>
              <a:rPr lang="en-US" dirty="0"/>
              <a:t>0,08 around exploration path</a:t>
            </a:r>
          </a:p>
          <a:p>
            <a:pPr lvl="1"/>
            <a:endParaRPr lang="en-US" dirty="0"/>
          </a:p>
          <a:p>
            <a:r>
              <a:rPr lang="en-US" dirty="0"/>
              <a:t>Different starts:</a:t>
            </a:r>
          </a:p>
          <a:p>
            <a:pPr lvl="1"/>
            <a:r>
              <a:rPr lang="en-US" dirty="0"/>
              <a:t>60 Randomly measured points on map</a:t>
            </a:r>
          </a:p>
          <a:p>
            <a:pPr lvl="1"/>
            <a:r>
              <a:rPr lang="en-US" dirty="0"/>
              <a:t>Half-half known/unknown</a:t>
            </a:r>
          </a:p>
          <a:p>
            <a:pPr lvl="1"/>
            <a:r>
              <a:rPr lang="en-US" dirty="0"/>
              <a:t>Different quadrants known/unknown</a:t>
            </a:r>
          </a:p>
          <a:p>
            <a:pPr lvl="1"/>
            <a:r>
              <a:rPr lang="en-US" dirty="0"/>
              <a:t>Center hole is unknown</a:t>
            </a:r>
          </a:p>
        </p:txBody>
      </p:sp>
    </p:spTree>
    <p:extLst>
      <p:ext uri="{BB962C8B-B14F-4D97-AF65-F5344CB8AC3E}">
        <p14:creationId xmlns:p14="http://schemas.microsoft.com/office/powerpoint/2010/main" val="243580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712E-42D1-6B21-8712-5EF3E012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9E8E-DCF5-2159-A56E-EE697B1B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Belief as Target Density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65DFD-B393-88FA-F72A-D93C9942C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Test different </a:t>
                </a:r>
                <a:r>
                  <a:rPr lang="de-DE" dirty="0" err="1"/>
                  <a:t>target</a:t>
                </a:r>
                <a:r>
                  <a:rPr lang="de-DE" dirty="0"/>
                  <a:t> </a:t>
                </a:r>
                <a:r>
                  <a:rPr lang="de-DE" dirty="0" err="1"/>
                  <a:t>density</a:t>
                </a:r>
                <a:r>
                  <a:rPr lang="de-DE" dirty="0"/>
                  <a:t> </a:t>
                </a:r>
                <a:r>
                  <a:rPr lang="de-DE" dirty="0" err="1"/>
                  <a:t>modelation</a:t>
                </a:r>
                <a:endParaRPr lang="de-DE" dirty="0"/>
              </a:p>
              <a:p>
                <a:pPr lvl="1"/>
                <a:r>
                  <a:rPr lang="de-DE" dirty="0" err="1"/>
                  <a:t>Mass</a:t>
                </a:r>
                <a:r>
                  <a:rPr lang="de-DE" dirty="0"/>
                  <a:t> </a:t>
                </a:r>
                <a:r>
                  <a:rPr lang="de-DE" dirty="0" err="1"/>
                  <a:t>equalization</a:t>
                </a:r>
                <a:r>
                  <a:rPr lang="de-DE" dirty="0"/>
                  <a:t>: </a:t>
                </a:r>
                <a:r>
                  <a:rPr lang="en-US" dirty="0"/>
                  <a:t>Φ(x) = (1−w)  μ(x) + w · σ(x)</a:t>
                </a:r>
              </a:p>
              <a:p>
                <a:pPr lvl="2"/>
                <a:r>
                  <a:rPr lang="en-US" dirty="0"/>
                  <a:t>W as time for exploration weight vs </a:t>
                </a:r>
                <a:r>
                  <a:rPr lang="en-US" dirty="0" err="1"/>
                  <a:t>expoitation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(w=0.5 means equal exploration and exploitation)</a:t>
                </a:r>
              </a:p>
              <a:p>
                <a:r>
                  <a:rPr lang="en-US" dirty="0"/>
                  <a:t>Fisher-Information idea from paper “Ergodic Exploration of Distributed Information”</a:t>
                </a:r>
              </a:p>
              <a:p>
                <a:pPr lvl="1"/>
                <a:r>
                  <a:rPr lang="en-US" dirty="0"/>
                  <a:t>Idea: Where will another measurement deliver the most information gain?</a:t>
                </a:r>
              </a:p>
              <a:p>
                <a:pPr lvl="1"/>
                <a:r>
                  <a:rPr lang="en-US" dirty="0"/>
                  <a:t>Information gain or change in information density: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𝛻𝜇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‖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plus where is high information density for exploration: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Φ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𝑥</m:t>
                        </m:r>
                      </m:e>
                    </m:d>
                    <m:r>
                      <a:rPr lang="en-US"/>
                      <m:t>=</m:t>
                    </m:r>
                    <m:acc>
                      <m:accPr>
                        <m:chr m:val="ˆ"/>
                        <m:ctrlPr>
                          <a:rPr lang="en-US" i="1"/>
                        </m:ctrlPr>
                      </m:accPr>
                      <m:e>
                        <m:r>
                          <a:rPr lang="en-US" i="1"/>
                          <m:t>𝜇</m:t>
                        </m:r>
                      </m:e>
                    </m:acc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𝑥</m:t>
                        </m:r>
                      </m:e>
                    </m:d>
                    <m:r>
                      <a:rPr lang="en-US"/>
                      <m:t>+</m:t>
                    </m:r>
                    <m:r>
                      <a:rPr lang="en-US" i="1"/>
                      <m:t>𝜅</m:t>
                    </m:r>
                    <m:r>
                      <a:rPr lang="en-US"/>
                      <m:t>‖</m:t>
                    </m:r>
                    <m:r>
                      <a:rPr lang="en-US" i="1"/>
                      <m:t>𝛻𝜇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𝑥</m:t>
                        </m:r>
                      </m:e>
                    </m:d>
                    <m:r>
                      <a:rPr lang="en-US"/>
                      <m:t>‖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​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65DFD-B393-88FA-F72A-D93C9942C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73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04FF-442D-94EF-D47D-8C09C0B0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6375"/>
            <a:ext cx="33972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Ergodic planning on UCB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9E509C4-85E4-D307-742D-D9F177D77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5" y="2565399"/>
            <a:ext cx="3195399" cy="31717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5D6F1A-1A16-2686-0E82-5953EC56D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19" y="2400299"/>
            <a:ext cx="3092761" cy="317177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51610E5-2B11-1D0D-819D-2757F0D9C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675" y="2451099"/>
            <a:ext cx="3194799" cy="3171773"/>
          </a:xfrm>
          <a:prstGeom prst="rect">
            <a:avLst/>
          </a:prstGeom>
        </p:spPr>
      </p:pic>
      <p:graphicFrame>
        <p:nvGraphicFramePr>
          <p:cNvPr id="27" name="Content Placeholder 3">
            <a:extLst>
              <a:ext uri="{FF2B5EF4-FFF2-40B4-BE49-F238E27FC236}">
                <a16:creationId xmlns:a16="http://schemas.microsoft.com/office/drawing/2014/main" id="{68EE165A-DF3C-0429-40A7-F36C8D876D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193216"/>
              </p:ext>
            </p:extLst>
          </p:nvPr>
        </p:nvGraphicFramePr>
        <p:xfrm>
          <a:off x="0" y="1825625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94129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0525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9273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One</a:t>
                      </a:r>
                      <a:r>
                        <a:rPr lang="de-DE" dirty="0"/>
                        <a:t> time </a:t>
                      </a:r>
                      <a:r>
                        <a:rPr lang="de-DE" dirty="0" err="1"/>
                        <a:t>planning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Two stage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Constant replanning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34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22CA-B561-E1C5-0169-8719F90C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Ergodic planning on UCB with </a:t>
            </a:r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equalization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63BA-14F9-439B-E217-49391FA61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BD5D8-9501-5518-DBF3-F5141AFE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387" y="2633664"/>
            <a:ext cx="3657301" cy="3630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A567A-8842-0B0A-E568-C65195A45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836" y="2633664"/>
            <a:ext cx="3664451" cy="3630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764B0-FA8D-A00B-365E-EEBFD6689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33664"/>
            <a:ext cx="3623735" cy="3630458"/>
          </a:xfrm>
          <a:prstGeom prst="rect">
            <a:avLst/>
          </a:prstGeom>
        </p:spPr>
      </p:pic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75B0675-439F-3289-65B7-0496D2133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755311"/>
              </p:ext>
            </p:extLst>
          </p:nvPr>
        </p:nvGraphicFramePr>
        <p:xfrm>
          <a:off x="0" y="1825625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94129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0525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9273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One</a:t>
                      </a:r>
                      <a:r>
                        <a:rPr lang="de-DE" dirty="0"/>
                        <a:t> time </a:t>
                      </a:r>
                      <a:r>
                        <a:rPr lang="de-DE" dirty="0" err="1"/>
                        <a:t>planning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Two stage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Constant replanning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76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D553-EB05-9248-F646-47496F2A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Ergodic planning on Fisher-Information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36324-1513-C614-7C26-5FC19F01D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C03AD-06D8-4CB0-7BEB-06AD252D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2" y="2038688"/>
            <a:ext cx="3619207" cy="3752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6B2663-75C1-36F0-BAA6-24EAF4CE6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34" y="2078679"/>
            <a:ext cx="3579215" cy="3672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404B43-D7E9-A3CD-5237-CC6D86713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363" y="2068681"/>
            <a:ext cx="3645868" cy="3692524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EA16175-AB93-D276-95BE-41260F870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193216"/>
              </p:ext>
            </p:extLst>
          </p:nvPr>
        </p:nvGraphicFramePr>
        <p:xfrm>
          <a:off x="0" y="1825625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94129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0525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9273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One</a:t>
                      </a:r>
                      <a:r>
                        <a:rPr lang="de-DE" dirty="0"/>
                        <a:t> time </a:t>
                      </a:r>
                      <a:r>
                        <a:rPr lang="de-DE" dirty="0" err="1"/>
                        <a:t>planning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Two stage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Constant replanning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97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D5B5-D715-8775-2119-C5C55253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</a:t>
            </a:r>
            <a:r>
              <a:rPr lang="de-DE" dirty="0" err="1"/>
              <a:t>length</a:t>
            </a:r>
            <a:r>
              <a:rPr lang="de-DE" dirty="0"/>
              <a:t>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CCC1-4839-B1CF-B16E-389781B12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longer</a:t>
            </a:r>
            <a:r>
              <a:rPr lang="de-DE" dirty="0"/>
              <a:t> the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, the </a:t>
            </a:r>
            <a:r>
              <a:rPr lang="de-DE" dirty="0" err="1"/>
              <a:t>better</a:t>
            </a:r>
            <a:r>
              <a:rPr lang="de-DE" dirty="0"/>
              <a:t> the </a:t>
            </a:r>
            <a:r>
              <a:rPr lang="de-DE" dirty="0" err="1"/>
              <a:t>result</a:t>
            </a:r>
            <a:r>
              <a:rPr lang="de-DE" dirty="0"/>
              <a:t>, </a:t>
            </a:r>
            <a:r>
              <a:rPr lang="de-DE" dirty="0" err="1"/>
              <a:t>hard</a:t>
            </a:r>
            <a:r>
              <a:rPr lang="de-DE" dirty="0"/>
              <a:t> to </a:t>
            </a:r>
            <a:r>
              <a:rPr lang="de-DE" dirty="0" err="1"/>
              <a:t>define</a:t>
            </a:r>
            <a:r>
              <a:rPr lang="de-DE" dirty="0"/>
              <a:t> stop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limit</a:t>
            </a:r>
            <a:r>
              <a:rPr lang="de-DE" dirty="0"/>
              <a:t> </a:t>
            </a:r>
            <a:r>
              <a:rPr lang="de-DE" dirty="0" err="1"/>
              <a:t>length</a:t>
            </a:r>
            <a:endParaRPr lang="de-DE" dirty="0"/>
          </a:p>
          <a:p>
            <a:r>
              <a:rPr lang="de-DE" dirty="0" err="1"/>
              <a:t>especially</a:t>
            </a:r>
            <a:r>
              <a:rPr lang="de-DE" dirty="0"/>
              <a:t> for the </a:t>
            </a:r>
            <a:r>
              <a:rPr lang="de-DE" dirty="0" err="1"/>
              <a:t>constant</a:t>
            </a:r>
            <a:r>
              <a:rPr lang="de-DE" dirty="0"/>
              <a:t> </a:t>
            </a:r>
            <a:r>
              <a:rPr lang="de-DE" dirty="0" err="1"/>
              <a:t>replanning</a:t>
            </a:r>
            <a:r>
              <a:rPr lang="de-DE" dirty="0"/>
              <a:t> </a:t>
            </a:r>
          </a:p>
          <a:p>
            <a:r>
              <a:rPr lang="de-DE" dirty="0">
                <a:sym typeface="Wingdings" panose="05000000000000000000" pitchFamily="2" charset="2"/>
              </a:rPr>
              <a:t> </a:t>
            </a:r>
            <a:r>
              <a:rPr lang="de-DE" dirty="0" err="1">
                <a:sym typeface="Wingdings" panose="05000000000000000000" pitchFamily="2" charset="2"/>
              </a:rPr>
              <a:t>idea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it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possible to </a:t>
            </a:r>
            <a:r>
              <a:rPr lang="de-DE" dirty="0" err="1">
                <a:sym typeface="Wingdings" panose="05000000000000000000" pitchFamily="2" charset="2"/>
              </a:rPr>
              <a:t>condition</a:t>
            </a:r>
            <a:r>
              <a:rPr lang="de-DE" dirty="0">
                <a:sym typeface="Wingdings" panose="05000000000000000000" pitchFamily="2" charset="2"/>
              </a:rPr>
              <a:t> on </a:t>
            </a:r>
            <a:r>
              <a:rPr lang="de-DE" dirty="0" err="1">
                <a:sym typeface="Wingdings" panose="05000000000000000000" pitchFamily="2" charset="2"/>
              </a:rPr>
              <a:t>length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each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replanning</a:t>
            </a:r>
            <a:r>
              <a:rPr lang="de-DE" dirty="0">
                <a:sym typeface="Wingdings" panose="05000000000000000000" pitchFamily="2" charset="2"/>
              </a:rPr>
              <a:t> step </a:t>
            </a:r>
            <a:r>
              <a:rPr lang="de-DE" dirty="0" err="1">
                <a:sym typeface="Wingdings" panose="05000000000000000000" pitchFamily="2" charset="2"/>
              </a:rPr>
              <a:t>can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reduce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length</a:t>
            </a: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 err="1">
                <a:sym typeface="Wingdings" panose="05000000000000000000" pitchFamily="2" charset="2"/>
              </a:rPr>
              <a:t>Databank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with</a:t>
            </a:r>
            <a:r>
              <a:rPr lang="de-DE" dirty="0">
                <a:sym typeface="Wingdings" panose="05000000000000000000" pitchFamily="2" charset="2"/>
              </a:rPr>
              <a:t> different </a:t>
            </a:r>
            <a:r>
              <a:rPr lang="de-DE" dirty="0" err="1">
                <a:sym typeface="Wingdings" panose="05000000000000000000" pitchFamily="2" charset="2"/>
              </a:rPr>
              <a:t>iteration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numbers</a:t>
            </a:r>
            <a:r>
              <a:rPr lang="de-DE" dirty="0">
                <a:sym typeface="Wingdings" panose="05000000000000000000" pitchFamily="2" charset="2"/>
              </a:rPr>
              <a:t> for different </a:t>
            </a:r>
            <a:r>
              <a:rPr lang="de-DE" dirty="0" err="1">
                <a:sym typeface="Wingdings" panose="05000000000000000000" pitchFamily="2" charset="2"/>
              </a:rPr>
              <a:t>lengths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no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successfull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inference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yet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1AD00-2662-BEB4-5DC2-FE3A6463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5" y="5581650"/>
            <a:ext cx="11096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0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C448-33A1-FB1B-B754-611EF9DE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3D </a:t>
            </a:r>
            <a:r>
              <a:rPr lang="de-DE" dirty="0" err="1"/>
              <a:t>transfer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C1FA4-7A56-DABD-BB66-A345D7BB8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0938" cy="4351338"/>
          </a:xfrm>
        </p:spPr>
        <p:txBody>
          <a:bodyPr/>
          <a:lstStyle/>
          <a:p>
            <a:r>
              <a:rPr lang="de-DE" dirty="0"/>
              <a:t>First step: </a:t>
            </a:r>
          </a:p>
          <a:p>
            <a:pPr lvl="1"/>
            <a:r>
              <a:rPr lang="de-DE" dirty="0"/>
              <a:t>Add </a:t>
            </a:r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dimension</a:t>
            </a:r>
            <a:r>
              <a:rPr lang="de-DE" dirty="0"/>
              <a:t> to 2D </a:t>
            </a:r>
            <a:r>
              <a:rPr lang="de-DE" dirty="0" err="1"/>
              <a:t>database</a:t>
            </a:r>
            <a:r>
              <a:rPr lang="de-DE" dirty="0"/>
              <a:t> (just as 0)</a:t>
            </a:r>
          </a:p>
          <a:p>
            <a:pPr lvl="1"/>
            <a:r>
              <a:rPr lang="de-DE" dirty="0"/>
              <a:t>Train same </a:t>
            </a:r>
            <a:r>
              <a:rPr lang="de-DE" dirty="0" err="1"/>
              <a:t>architecture</a:t>
            </a:r>
            <a:r>
              <a:rPr lang="de-DE" dirty="0"/>
              <a:t> to </a:t>
            </a:r>
            <a:r>
              <a:rPr lang="de-DE" dirty="0" err="1"/>
              <a:t>generate</a:t>
            </a:r>
            <a:r>
              <a:rPr lang="de-DE" dirty="0"/>
              <a:t> B-Spline </a:t>
            </a:r>
            <a:r>
              <a:rPr lang="de-DE" dirty="0" err="1"/>
              <a:t>cps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dimension</a:t>
            </a:r>
            <a:endParaRPr lang="de-DE" dirty="0"/>
          </a:p>
          <a:p>
            <a:pPr lvl="1"/>
            <a:r>
              <a:rPr lang="de-DE" dirty="0"/>
              <a:t>Test </a:t>
            </a:r>
            <a:r>
              <a:rPr lang="de-DE" dirty="0" err="1"/>
              <a:t>generalizability</a:t>
            </a:r>
            <a:r>
              <a:rPr lang="de-DE" dirty="0"/>
              <a:t> to different plane </a:t>
            </a:r>
            <a:r>
              <a:rPr lang="de-DE" dirty="0" err="1"/>
              <a:t>orientations</a:t>
            </a:r>
            <a:r>
              <a:rPr lang="de-DE" dirty="0"/>
              <a:t>/</a:t>
            </a:r>
            <a:r>
              <a:rPr lang="de-DE" dirty="0" err="1"/>
              <a:t>shapes</a:t>
            </a:r>
            <a:endParaRPr lang="de-DE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E51F3-A3CC-2E6F-9B2A-A4B1C4C2C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667" y="1124462"/>
            <a:ext cx="5120938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03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D9E8-710C-0FE5-6927-D78914BA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7AED-F254-9DC3-8263-F5A1FA44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3D </a:t>
            </a:r>
            <a:r>
              <a:rPr lang="de-DE" dirty="0" err="1"/>
              <a:t>transfer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B076-B5F3-E8E2-4614-F75D2B26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825625"/>
            <a:ext cx="4431891" cy="4351338"/>
          </a:xfrm>
        </p:spPr>
        <p:txBody>
          <a:bodyPr/>
          <a:lstStyle/>
          <a:p>
            <a:r>
              <a:rPr lang="de-DE" dirty="0"/>
              <a:t>second step: </a:t>
            </a:r>
          </a:p>
          <a:p>
            <a:pPr lvl="1"/>
            <a:r>
              <a:rPr lang="en-US" dirty="0"/>
              <a:t>Change database:</a:t>
            </a:r>
          </a:p>
          <a:p>
            <a:pPr lvl="2"/>
            <a:r>
              <a:rPr lang="en-US" dirty="0"/>
              <a:t>Project shapes and trajectories on different surfaces</a:t>
            </a:r>
          </a:p>
          <a:p>
            <a:pPr lvl="2"/>
            <a:r>
              <a:rPr lang="en-US" dirty="0"/>
              <a:t>Train on new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9916E-CEE5-CA1D-6232-AAB6BAEF3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225" y="1253613"/>
            <a:ext cx="7006559" cy="50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23D93-2991-AF89-493E-75B5AF42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46058" cy="1325563"/>
          </a:xfrm>
        </p:spPr>
        <p:txBody>
          <a:bodyPr/>
          <a:lstStyle/>
          <a:p>
            <a:r>
              <a:rPr lang="de-DE" dirty="0"/>
              <a:t>First </a:t>
            </a:r>
            <a:r>
              <a:rPr lang="de-DE" dirty="0" err="1"/>
              <a:t>tests</a:t>
            </a:r>
            <a:r>
              <a:rPr lang="de-DE" dirty="0"/>
              <a:t> of </a:t>
            </a:r>
            <a:r>
              <a:rPr lang="de-DE" dirty="0" err="1"/>
              <a:t>comparison</a:t>
            </a:r>
            <a:r>
              <a:rPr lang="de-DE" dirty="0"/>
              <a:t> of </a:t>
            </a:r>
            <a:r>
              <a:rPr lang="de-DE" dirty="0" err="1"/>
              <a:t>initializations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423BB2-427C-1B96-3998-7D021648A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3" y="240024"/>
            <a:ext cx="4119584" cy="65002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3F52E3-BC51-3CB4-36C7-1EF3F1DC1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21909"/>
              </p:ext>
            </p:extLst>
          </p:nvPr>
        </p:nvGraphicFramePr>
        <p:xfrm>
          <a:off x="355601" y="1849966"/>
          <a:ext cx="6794499" cy="4690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833">
                  <a:extLst>
                    <a:ext uri="{9D8B030D-6E8A-4147-A177-3AD203B41FA5}">
                      <a16:colId xmlns:a16="http://schemas.microsoft.com/office/drawing/2014/main" val="93204239"/>
                    </a:ext>
                  </a:extLst>
                </a:gridCol>
                <a:gridCol w="2264833">
                  <a:extLst>
                    <a:ext uri="{9D8B030D-6E8A-4147-A177-3AD203B41FA5}">
                      <a16:colId xmlns:a16="http://schemas.microsoft.com/office/drawing/2014/main" val="2898138076"/>
                    </a:ext>
                  </a:extLst>
                </a:gridCol>
                <a:gridCol w="2264833">
                  <a:extLst>
                    <a:ext uri="{9D8B030D-6E8A-4147-A177-3AD203B41FA5}">
                      <a16:colId xmlns:a16="http://schemas.microsoft.com/office/drawing/2014/main" val="980524142"/>
                    </a:ext>
                  </a:extLst>
                </a:gridCol>
              </a:tblGrid>
              <a:tr h="15635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Ergodicity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before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svgd</a:t>
                      </a:r>
                      <a:r>
                        <a:rPr lang="de-DE" dirty="0"/>
                        <a:t> (1000 </a:t>
                      </a:r>
                      <a:r>
                        <a:rPr lang="de-DE" dirty="0" err="1"/>
                        <a:t>iterations</a:t>
                      </a:r>
                      <a:r>
                        <a:rPr lang="de-DE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Ergodicity</a:t>
                      </a:r>
                      <a:r>
                        <a:rPr lang="de-DE" dirty="0"/>
                        <a:t> after </a:t>
                      </a:r>
                      <a:r>
                        <a:rPr lang="de-DE" dirty="0" err="1"/>
                        <a:t>svgd</a:t>
                      </a:r>
                      <a:r>
                        <a:rPr lang="de-DE" dirty="0"/>
                        <a:t> (1000 </a:t>
                      </a:r>
                      <a:r>
                        <a:rPr lang="de-DE" dirty="0" err="1"/>
                        <a:t>iterations</a:t>
                      </a:r>
                      <a:r>
                        <a:rPr lang="de-DE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839360"/>
                  </a:ext>
                </a:extLst>
              </a:tr>
              <a:tr h="1563511">
                <a:tc>
                  <a:txBody>
                    <a:bodyPr/>
                    <a:lstStyle/>
                    <a:p>
                      <a:r>
                        <a:rPr lang="de-DE" dirty="0" err="1"/>
                        <a:t>heuristic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98739"/>
                  </a:ext>
                </a:extLst>
              </a:tr>
              <a:tr h="1563511">
                <a:tc>
                  <a:txBody>
                    <a:bodyPr/>
                    <a:lstStyle/>
                    <a:p>
                      <a:r>
                        <a:rPr lang="de-DE" dirty="0"/>
                        <a:t>cfm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3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34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E341-94F2-CD8B-D836-B03B0163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A6597-D9A7-BC6D-BEB3-5E6E06AA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 err="1"/>
              <a:t>Expand</a:t>
            </a:r>
            <a:r>
              <a:rPr lang="de-DE" dirty="0"/>
              <a:t> 3D </a:t>
            </a:r>
            <a:r>
              <a:rPr lang="de-DE" dirty="0" err="1"/>
              <a:t>database</a:t>
            </a:r>
            <a:r>
              <a:rPr lang="de-DE" dirty="0"/>
              <a:t> for </a:t>
            </a:r>
            <a:r>
              <a:rPr lang="de-DE" dirty="0" err="1"/>
              <a:t>more</a:t>
            </a:r>
            <a:r>
              <a:rPr lang="de-DE" dirty="0"/>
              <a:t> 3D </a:t>
            </a:r>
            <a:r>
              <a:rPr lang="de-DE" dirty="0" err="1"/>
              <a:t>shapes</a:t>
            </a:r>
            <a:r>
              <a:rPr lang="de-DE" dirty="0"/>
              <a:t> to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generalization</a:t>
            </a:r>
            <a:endParaRPr lang="de-DE" dirty="0"/>
          </a:p>
          <a:p>
            <a:pPr lvl="1"/>
            <a:r>
              <a:rPr lang="de-DE" dirty="0" err="1"/>
              <a:t>Finetune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on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extension</a:t>
            </a:r>
            <a:endParaRPr lang="de-DE" dirty="0"/>
          </a:p>
          <a:p>
            <a:r>
              <a:rPr lang="de-DE" dirty="0" err="1"/>
              <a:t>I´ntroduce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constraint</a:t>
            </a:r>
            <a:r>
              <a:rPr lang="de-DE" dirty="0"/>
              <a:t>…</a:t>
            </a:r>
          </a:p>
          <a:p>
            <a:r>
              <a:rPr lang="de-DE" dirty="0" err="1"/>
              <a:t>Make</a:t>
            </a:r>
            <a:r>
              <a:rPr lang="de-DE" dirty="0"/>
              <a:t> a larger </a:t>
            </a:r>
            <a:r>
              <a:rPr lang="de-DE" dirty="0" err="1"/>
              <a:t>analysis</a:t>
            </a:r>
            <a:r>
              <a:rPr lang="de-DE" dirty="0"/>
              <a:t> and </a:t>
            </a:r>
            <a:r>
              <a:rPr lang="de-DE" dirty="0" err="1"/>
              <a:t>comparison</a:t>
            </a:r>
            <a:r>
              <a:rPr lang="de-DE" dirty="0"/>
              <a:t> of different </a:t>
            </a:r>
            <a:r>
              <a:rPr lang="de-DE" dirty="0" err="1"/>
              <a:t>initializations</a:t>
            </a:r>
            <a:r>
              <a:rPr lang="de-DE" dirty="0"/>
              <a:t> (IAS logo)</a:t>
            </a:r>
          </a:p>
          <a:p>
            <a:r>
              <a:rPr lang="de-DE" dirty="0"/>
              <a:t>Try </a:t>
            </a:r>
            <a:r>
              <a:rPr lang="de-DE" dirty="0" err="1"/>
              <a:t>mujoco</a:t>
            </a:r>
            <a:r>
              <a:rPr lang="de-DE" dirty="0"/>
              <a:t> </a:t>
            </a:r>
            <a:r>
              <a:rPr lang="de-DE" dirty="0" err="1"/>
              <a:t>simulation</a:t>
            </a:r>
            <a:endParaRPr lang="en-US" dirty="0"/>
          </a:p>
          <a:p>
            <a:r>
              <a:rPr lang="en-US" dirty="0"/>
              <a:t>Improve uncertainty exploration/exploitation</a:t>
            </a:r>
          </a:p>
          <a:p>
            <a:pPr lvl="1"/>
            <a:r>
              <a:rPr lang="en-US" dirty="0"/>
              <a:t>Make use of pathlength conditioning to limit exploration </a:t>
            </a:r>
            <a:r>
              <a:rPr lang="en-US" dirty="0">
                <a:sym typeface="Wingdings" panose="05000000000000000000" pitchFamily="2" charset="2"/>
              </a:rPr>
              <a:t> introduce a budget</a:t>
            </a:r>
            <a:endParaRPr lang="en-US" dirty="0"/>
          </a:p>
          <a:p>
            <a:pPr lvl="1"/>
            <a:r>
              <a:rPr lang="en-US" dirty="0"/>
              <a:t>Fair comparisons with similar pathlengths</a:t>
            </a:r>
          </a:p>
          <a:p>
            <a:pPr lvl="1"/>
            <a:r>
              <a:rPr lang="en-US" dirty="0"/>
              <a:t>Find and analyze a metric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512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Widescreen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Meeting 27.08</vt:lpstr>
      <vt:lpstr>Ergodic loss terms</vt:lpstr>
      <vt:lpstr>Ergodic loss terms</vt:lpstr>
      <vt:lpstr>Belief as Target Density</vt:lpstr>
      <vt:lpstr>Belief as Target Density </vt:lpstr>
      <vt:lpstr>Belief as Target Density </vt:lpstr>
      <vt:lpstr>Ergodic planning on UCB</vt:lpstr>
      <vt:lpstr>Ergodic planning on UCB with Mass equalization</vt:lpstr>
      <vt:lpstr>Ergodic planning on Fisher-Information</vt:lpstr>
      <vt:lpstr>Problem: length </vt:lpstr>
      <vt:lpstr>3D transfer</vt:lpstr>
      <vt:lpstr>3D transfer</vt:lpstr>
      <vt:lpstr>First tests of comparison of initializations</vt:lpstr>
      <vt:lpstr>Plan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5</cp:revision>
  <dcterms:created xsi:type="dcterms:W3CDTF">2026-08-27T09:11:21Z</dcterms:created>
  <dcterms:modified xsi:type="dcterms:W3CDTF">2026-08-27T20:36:34Z</dcterms:modified>
</cp:coreProperties>
</file>