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8000663" cy="18000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670" userDrawn="1">
          <p15:clr>
            <a:srgbClr val="A4A3A4"/>
          </p15:clr>
        </p15:guide>
        <p15:guide id="2" pos="56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2748" y="84"/>
      </p:cViewPr>
      <p:guideLst>
        <p:guide orient="horz" pos="5670"/>
        <p:guide pos="56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0050" y="2945943"/>
            <a:ext cx="15300564" cy="6266897"/>
          </a:xfrm>
        </p:spPr>
        <p:txBody>
          <a:bodyPr anchor="b"/>
          <a:lstStyle>
            <a:lvl1pPr algn="ctr">
              <a:defRPr sz="118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9454516"/>
            <a:ext cx="13500497" cy="4345992"/>
          </a:xfrm>
        </p:spPr>
        <p:txBody>
          <a:bodyPr/>
          <a:lstStyle>
            <a:lvl1pPr marL="0" indent="0" algn="ctr">
              <a:buNone/>
              <a:defRPr sz="4725"/>
            </a:lvl1pPr>
            <a:lvl2pPr marL="900044" indent="0" algn="ctr">
              <a:buNone/>
              <a:defRPr sz="3937"/>
            </a:lvl2pPr>
            <a:lvl3pPr marL="1800088" indent="0" algn="ctr">
              <a:buNone/>
              <a:defRPr sz="3543"/>
            </a:lvl3pPr>
            <a:lvl4pPr marL="2700132" indent="0" algn="ctr">
              <a:buNone/>
              <a:defRPr sz="3150"/>
            </a:lvl4pPr>
            <a:lvl5pPr marL="3600176" indent="0" algn="ctr">
              <a:buNone/>
              <a:defRPr sz="3150"/>
            </a:lvl5pPr>
            <a:lvl6pPr marL="4500220" indent="0" algn="ctr">
              <a:buNone/>
              <a:defRPr sz="3150"/>
            </a:lvl6pPr>
            <a:lvl7pPr marL="5400264" indent="0" algn="ctr">
              <a:buNone/>
              <a:defRPr sz="3150"/>
            </a:lvl7pPr>
            <a:lvl8pPr marL="6300307" indent="0" algn="ctr">
              <a:buNone/>
              <a:defRPr sz="3150"/>
            </a:lvl8pPr>
            <a:lvl9pPr marL="7200351" indent="0" algn="ctr">
              <a:buNone/>
              <a:defRPr sz="315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DB80F-6D04-40C9-AD9B-348CDB80E5D6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F587-995C-4932-AD47-B9CE81088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219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DB80F-6D04-40C9-AD9B-348CDB80E5D6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F587-995C-4932-AD47-B9CE81088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97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1" y="4487671"/>
            <a:ext cx="15525572" cy="7487774"/>
          </a:xfrm>
        </p:spPr>
        <p:txBody>
          <a:bodyPr anchor="b"/>
          <a:lstStyle>
            <a:lvl1pPr>
              <a:defRPr sz="118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1" y="12046282"/>
            <a:ext cx="15525572" cy="3937644"/>
          </a:xfrm>
        </p:spPr>
        <p:txBody>
          <a:bodyPr/>
          <a:lstStyle>
            <a:lvl1pPr marL="0" indent="0">
              <a:buNone/>
              <a:defRPr sz="4725">
                <a:solidFill>
                  <a:schemeClr val="tx1">
                    <a:tint val="82000"/>
                  </a:schemeClr>
                </a:solidFill>
              </a:defRPr>
            </a:lvl1pPr>
            <a:lvl2pPr marL="900044" indent="0">
              <a:buNone/>
              <a:defRPr sz="3937">
                <a:solidFill>
                  <a:schemeClr val="tx1">
                    <a:tint val="82000"/>
                  </a:schemeClr>
                </a:solidFill>
              </a:defRPr>
            </a:lvl2pPr>
            <a:lvl3pPr marL="1800088" indent="0">
              <a:buNone/>
              <a:defRPr sz="3543">
                <a:solidFill>
                  <a:schemeClr val="tx1">
                    <a:tint val="82000"/>
                  </a:schemeClr>
                </a:solidFill>
              </a:defRPr>
            </a:lvl3pPr>
            <a:lvl4pPr marL="2700132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4pPr>
            <a:lvl5pPr marL="3600176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5pPr>
            <a:lvl6pPr marL="4500220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6pPr>
            <a:lvl7pPr marL="5400264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7pPr>
            <a:lvl8pPr marL="6300307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8pPr>
            <a:lvl9pPr marL="7200351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DB80F-6D04-40C9-AD9B-348CDB80E5D6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F587-995C-4932-AD47-B9CE81088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7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4791843"/>
            <a:ext cx="7650282" cy="114212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4791843"/>
            <a:ext cx="7650282" cy="114212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DB80F-6D04-40C9-AD9B-348CDB80E5D6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F587-995C-4932-AD47-B9CE81088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507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958373"/>
            <a:ext cx="15525572" cy="34792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2" y="4412664"/>
            <a:ext cx="7615123" cy="2162578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2" y="6575242"/>
            <a:ext cx="7615123" cy="9671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7" y="4412664"/>
            <a:ext cx="7652626" cy="2162578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7" y="6575242"/>
            <a:ext cx="7652626" cy="9671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DB80F-6D04-40C9-AD9B-348CDB80E5D6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F587-995C-4932-AD47-B9CE81088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71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DB80F-6D04-40C9-AD9B-348CDB80E5D6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F587-995C-4932-AD47-B9CE81088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807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DB80F-6D04-40C9-AD9B-348CDB80E5D6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F587-995C-4932-AD47-B9CE81088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380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200044"/>
            <a:ext cx="5805682" cy="4200155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2591766"/>
            <a:ext cx="9112836" cy="12792138"/>
          </a:xfrm>
        </p:spPr>
        <p:txBody>
          <a:bodyPr/>
          <a:lstStyle>
            <a:lvl1pPr>
              <a:defRPr sz="6300"/>
            </a:lvl1pPr>
            <a:lvl2pPr>
              <a:defRPr sz="5512"/>
            </a:lvl2pPr>
            <a:lvl3pPr>
              <a:defRPr sz="4725"/>
            </a:lvl3pPr>
            <a:lvl4pPr>
              <a:defRPr sz="3937"/>
            </a:lvl4pPr>
            <a:lvl5pPr>
              <a:defRPr sz="3937"/>
            </a:lvl5pPr>
            <a:lvl6pPr>
              <a:defRPr sz="3937"/>
            </a:lvl6pPr>
            <a:lvl7pPr>
              <a:defRPr sz="3937"/>
            </a:lvl7pPr>
            <a:lvl8pPr>
              <a:defRPr sz="3937"/>
            </a:lvl8pPr>
            <a:lvl9pPr>
              <a:defRPr sz="393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5400199"/>
            <a:ext cx="5805682" cy="10004536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DB80F-6D04-40C9-AD9B-348CDB80E5D6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F587-995C-4932-AD47-B9CE81088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243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200044"/>
            <a:ext cx="5805682" cy="4200155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2591766"/>
            <a:ext cx="9112836" cy="12792138"/>
          </a:xfrm>
        </p:spPr>
        <p:txBody>
          <a:bodyPr anchor="t"/>
          <a:lstStyle>
            <a:lvl1pPr marL="0" indent="0">
              <a:buNone/>
              <a:defRPr sz="6300"/>
            </a:lvl1pPr>
            <a:lvl2pPr marL="900044" indent="0">
              <a:buNone/>
              <a:defRPr sz="5512"/>
            </a:lvl2pPr>
            <a:lvl3pPr marL="1800088" indent="0">
              <a:buNone/>
              <a:defRPr sz="4725"/>
            </a:lvl3pPr>
            <a:lvl4pPr marL="2700132" indent="0">
              <a:buNone/>
              <a:defRPr sz="3937"/>
            </a:lvl4pPr>
            <a:lvl5pPr marL="3600176" indent="0">
              <a:buNone/>
              <a:defRPr sz="3937"/>
            </a:lvl5pPr>
            <a:lvl6pPr marL="4500220" indent="0">
              <a:buNone/>
              <a:defRPr sz="3937"/>
            </a:lvl6pPr>
            <a:lvl7pPr marL="5400264" indent="0">
              <a:buNone/>
              <a:defRPr sz="3937"/>
            </a:lvl7pPr>
            <a:lvl8pPr marL="6300307" indent="0">
              <a:buNone/>
              <a:defRPr sz="3937"/>
            </a:lvl8pPr>
            <a:lvl9pPr marL="7200351" indent="0">
              <a:buNone/>
              <a:defRPr sz="393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5400199"/>
            <a:ext cx="5805682" cy="10004536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DB80F-6D04-40C9-AD9B-348CDB80E5D6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F587-995C-4932-AD47-B9CE81088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79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DB80F-6D04-40C9-AD9B-348CDB80E5D6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F587-995C-4932-AD47-B9CE81088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896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5" y="958369"/>
            <a:ext cx="3881393" cy="152547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6" y="958369"/>
            <a:ext cx="11419171" cy="152547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DB80F-6D04-40C9-AD9B-348CDB80E5D6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F587-995C-4932-AD47-B9CE81088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015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958373"/>
            <a:ext cx="15525572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4791843"/>
            <a:ext cx="15525572" cy="1142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6683952"/>
            <a:ext cx="4050149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DDB80F-6D04-40C9-AD9B-348CDB80E5D6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6683952"/>
            <a:ext cx="6075224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6683952"/>
            <a:ext cx="4050149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69F587-995C-4932-AD47-B9CE81088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00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800088" rtl="0" eaLnBrk="1" latinLnBrk="0" hangingPunct="1">
        <a:lnSpc>
          <a:spcPct val="90000"/>
        </a:lnSpc>
        <a:spcBef>
          <a:spcPct val="0"/>
        </a:spcBef>
        <a:buNone/>
        <a:defRPr sz="86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0022" indent="-450022" algn="l" defTabSz="1800088" rtl="0" eaLnBrk="1" latinLnBrk="0" hangingPunct="1">
        <a:lnSpc>
          <a:spcPct val="90000"/>
        </a:lnSpc>
        <a:spcBef>
          <a:spcPts val="1969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1pPr>
      <a:lvl2pPr marL="1350066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250110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937" kern="1200">
          <a:solidFill>
            <a:schemeClr val="tx1"/>
          </a:solidFill>
          <a:latin typeface="+mn-lt"/>
          <a:ea typeface="+mn-ea"/>
          <a:cs typeface="+mn-cs"/>
        </a:defRPr>
      </a:lvl3pPr>
      <a:lvl4pPr marL="3150154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4050198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950242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850285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750329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650373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1pPr>
      <a:lvl2pPr marL="90004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800088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700132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3600176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50022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40026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300307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200351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3C992-55FB-19A3-B8BB-54C4E5B173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Meeting 23.07.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FCA668-436D-0388-A27B-E13A3AFEFD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373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79F27-0506-4B94-F055-98CADC29C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Architecture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341ADD4-B256-47A2-E4C0-FA672FFF2AF0}"/>
              </a:ext>
            </a:extLst>
          </p:cNvPr>
          <p:cNvGrpSpPr/>
          <p:nvPr/>
        </p:nvGrpSpPr>
        <p:grpSpPr>
          <a:xfrm>
            <a:off x="2590005" y="6324600"/>
            <a:ext cx="13267215" cy="6991719"/>
            <a:chOff x="2590005" y="6324600"/>
            <a:chExt cx="13267215" cy="699171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1AF2AA7-E939-63CC-38CE-0F455AD5F781}"/>
                </a:ext>
              </a:extLst>
            </p:cNvPr>
            <p:cNvSpPr/>
            <p:nvPr/>
          </p:nvSpPr>
          <p:spPr>
            <a:xfrm>
              <a:off x="8602980" y="6324600"/>
              <a:ext cx="7254240" cy="480822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0DC31C1-FA46-0D7F-E303-4BD17E035EC7}"/>
                </a:ext>
              </a:extLst>
            </p:cNvPr>
            <p:cNvSpPr/>
            <p:nvPr/>
          </p:nvSpPr>
          <p:spPr>
            <a:xfrm>
              <a:off x="3971131" y="7528560"/>
              <a:ext cx="4489450" cy="2652897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AE7CCFB-A858-9B6F-947E-A59670379913}"/>
                </a:ext>
              </a:extLst>
            </p:cNvPr>
            <p:cNvSpPr txBox="1"/>
            <p:nvPr/>
          </p:nvSpPr>
          <p:spPr>
            <a:xfrm>
              <a:off x="4037649" y="7605132"/>
              <a:ext cx="1606550" cy="21864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Data </a:t>
              </a:r>
              <a:r>
                <a:rPr lang="de-DE" dirty="0" err="1"/>
                <a:t>preprocessing</a:t>
              </a:r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A0C5739-595D-3E81-DD57-3725F7D75297}"/>
                </a:ext>
              </a:extLst>
            </p:cNvPr>
            <p:cNvSpPr txBox="1"/>
            <p:nvPr/>
          </p:nvSpPr>
          <p:spPr>
            <a:xfrm>
              <a:off x="2590006" y="8395712"/>
              <a:ext cx="1606550" cy="11394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err="1"/>
                <a:t>Trajectory</a:t>
              </a:r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40563CF-072F-E4D6-903C-71F7AF434E24}"/>
                </a:ext>
              </a:extLst>
            </p:cNvPr>
            <p:cNvSpPr txBox="1"/>
            <p:nvPr/>
          </p:nvSpPr>
          <p:spPr>
            <a:xfrm>
              <a:off x="2590006" y="9042043"/>
              <a:ext cx="1606550" cy="11394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Flow Time</a:t>
              </a:r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BDC45EB-39EF-6615-63A5-F919F37261F5}"/>
                </a:ext>
              </a:extLst>
            </p:cNvPr>
            <p:cNvSpPr txBox="1"/>
            <p:nvPr/>
          </p:nvSpPr>
          <p:spPr>
            <a:xfrm>
              <a:off x="2590005" y="9541450"/>
              <a:ext cx="160655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Target </a:t>
              </a:r>
            </a:p>
            <a:p>
              <a:r>
                <a:rPr lang="de-DE" dirty="0"/>
                <a:t>Shape</a:t>
              </a:r>
              <a:endParaRPr lang="en-US" dirty="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02551A4-7F36-810E-C8AB-CD2E41541AF8}"/>
                </a:ext>
              </a:extLst>
            </p:cNvPr>
            <p:cNvSpPr/>
            <p:nvPr/>
          </p:nvSpPr>
          <p:spPr>
            <a:xfrm>
              <a:off x="4082258" y="8441531"/>
              <a:ext cx="3095625" cy="453588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err="1"/>
                <a:t>Convolutional</a:t>
              </a:r>
              <a:r>
                <a:rPr lang="de-DE" dirty="0"/>
                <a:t> </a:t>
              </a:r>
              <a:r>
                <a:rPr lang="de-DE" dirty="0" err="1"/>
                <a:t>encoding</a:t>
              </a:r>
              <a:endParaRPr lang="en-US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64294990-7F7B-F473-747B-8E46DE35AA70}"/>
                </a:ext>
              </a:extLst>
            </p:cNvPr>
            <p:cNvSpPr/>
            <p:nvPr/>
          </p:nvSpPr>
          <p:spPr>
            <a:xfrm>
              <a:off x="4082258" y="9007802"/>
              <a:ext cx="3095625" cy="453588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err="1"/>
                <a:t>Sinusoidal</a:t>
              </a:r>
              <a:r>
                <a:rPr lang="de-DE" dirty="0"/>
                <a:t> Time </a:t>
              </a:r>
              <a:r>
                <a:rPr lang="de-DE" dirty="0" err="1"/>
                <a:t>embedding</a:t>
              </a:r>
              <a:endParaRPr lang="en-US" dirty="0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71F7D8A1-4909-A92A-67C4-B1214D3AC981}"/>
                </a:ext>
              </a:extLst>
            </p:cNvPr>
            <p:cNvSpPr/>
            <p:nvPr/>
          </p:nvSpPr>
          <p:spPr>
            <a:xfrm>
              <a:off x="4082258" y="9591465"/>
              <a:ext cx="3095625" cy="453588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Average </a:t>
              </a:r>
              <a:r>
                <a:rPr lang="de-DE" dirty="0" err="1"/>
                <a:t>of</a:t>
              </a:r>
              <a:r>
                <a:rPr lang="de-DE" dirty="0"/>
                <a:t> </a:t>
              </a:r>
              <a:r>
                <a:rPr lang="de-DE" dirty="0" err="1"/>
                <a:t>target</a:t>
              </a:r>
              <a:r>
                <a:rPr lang="de-DE" dirty="0"/>
                <a:t> </a:t>
              </a:r>
              <a:r>
                <a:rPr lang="de-DE" dirty="0" err="1"/>
                <a:t>points</a:t>
              </a:r>
              <a:endParaRPr lang="en-US" dirty="0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A740DFA0-4CF8-7F77-7532-0124F09DB0CE}"/>
                </a:ext>
              </a:extLst>
            </p:cNvPr>
            <p:cNvSpPr/>
            <p:nvPr/>
          </p:nvSpPr>
          <p:spPr>
            <a:xfrm>
              <a:off x="9114631" y="7410907"/>
              <a:ext cx="2114550" cy="590550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Ecoder1 </a:t>
              </a:r>
              <a:r>
                <a:rPr lang="de-DE" dirty="0" err="1"/>
                <a:t>Conv</a:t>
              </a:r>
              <a:endParaRPr lang="en-US" dirty="0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C912CE24-DDA6-417C-3C3D-F20A861E6C91}"/>
                </a:ext>
              </a:extLst>
            </p:cNvPr>
            <p:cNvSpPr/>
            <p:nvPr/>
          </p:nvSpPr>
          <p:spPr>
            <a:xfrm>
              <a:off x="9438481" y="8369975"/>
              <a:ext cx="2114550" cy="590550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Ecoder2 </a:t>
              </a:r>
              <a:r>
                <a:rPr lang="de-DE" dirty="0" err="1"/>
                <a:t>Conv</a:t>
              </a:r>
              <a:endParaRPr lang="en-US" dirty="0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9820254A-C7F8-9604-55FF-FA715AE18E17}"/>
                </a:ext>
              </a:extLst>
            </p:cNvPr>
            <p:cNvSpPr/>
            <p:nvPr/>
          </p:nvSpPr>
          <p:spPr>
            <a:xfrm>
              <a:off x="11149806" y="9407763"/>
              <a:ext cx="2114550" cy="590550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Bottleneck</a:t>
              </a:r>
              <a:endParaRPr lang="en-US" dirty="0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336D44A0-3E0D-0418-596C-9C599A075DF2}"/>
                </a:ext>
              </a:extLst>
            </p:cNvPr>
            <p:cNvSpPr/>
            <p:nvPr/>
          </p:nvSpPr>
          <p:spPr>
            <a:xfrm>
              <a:off x="12861131" y="8369975"/>
              <a:ext cx="2114550" cy="590550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Decoder1 </a:t>
              </a:r>
              <a:r>
                <a:rPr lang="de-DE" dirty="0" err="1"/>
                <a:t>Conv</a:t>
              </a:r>
              <a:endParaRPr lang="en-US" dirty="0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D515C0DD-D3E2-7208-6D6A-28FA704876BE}"/>
                </a:ext>
              </a:extLst>
            </p:cNvPr>
            <p:cNvSpPr/>
            <p:nvPr/>
          </p:nvSpPr>
          <p:spPr>
            <a:xfrm>
              <a:off x="12981781" y="7410907"/>
              <a:ext cx="2114550" cy="590550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Decoder2 </a:t>
              </a:r>
              <a:r>
                <a:rPr lang="de-DE" dirty="0" err="1"/>
                <a:t>Conv</a:t>
              </a:r>
              <a:endParaRPr lang="en-US" dirty="0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966072AF-AB69-671B-4D26-AA4052C6DE69}"/>
                </a:ext>
              </a:extLst>
            </p:cNvPr>
            <p:cNvSpPr/>
            <p:nvPr/>
          </p:nvSpPr>
          <p:spPr>
            <a:xfrm>
              <a:off x="9385140" y="11796613"/>
              <a:ext cx="5176679" cy="590550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MLP-Layer</a:t>
              </a:r>
              <a:endParaRPr lang="en-US" dirty="0"/>
            </a:p>
          </p:txBody>
        </p:sp>
        <p:cxnSp>
          <p:nvCxnSpPr>
            <p:cNvPr id="30" name="Connector: Elbow 29">
              <a:extLst>
                <a:ext uri="{FF2B5EF4-FFF2-40B4-BE49-F238E27FC236}">
                  <a16:creationId xmlns:a16="http://schemas.microsoft.com/office/drawing/2014/main" id="{6B405D43-A9AE-6D60-DF02-FCB1CB2022F8}"/>
                </a:ext>
              </a:extLst>
            </p:cNvPr>
            <p:cNvCxnSpPr>
              <a:endCxn id="12" idx="1"/>
            </p:cNvCxnSpPr>
            <p:nvPr/>
          </p:nvCxnSpPr>
          <p:spPr>
            <a:xfrm>
              <a:off x="3718560" y="8602980"/>
              <a:ext cx="363698" cy="65345"/>
            </a:xfrm>
            <a:prstGeom prst="bentConnector3">
              <a:avLst>
                <a:gd name="adj1" fmla="val 49999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: Elbow 30">
              <a:extLst>
                <a:ext uri="{FF2B5EF4-FFF2-40B4-BE49-F238E27FC236}">
                  <a16:creationId xmlns:a16="http://schemas.microsoft.com/office/drawing/2014/main" id="{225F65EE-5C1F-B244-EFB6-07F268E67D52}"/>
                </a:ext>
              </a:extLst>
            </p:cNvPr>
            <p:cNvCxnSpPr/>
            <p:nvPr/>
          </p:nvCxnSpPr>
          <p:spPr>
            <a:xfrm>
              <a:off x="3743801" y="9203492"/>
              <a:ext cx="363698" cy="65345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BC63E6CC-2F80-1EB4-1DA3-369A00180BE8}"/>
                </a:ext>
              </a:extLst>
            </p:cNvPr>
            <p:cNvCxnSpPr/>
            <p:nvPr/>
          </p:nvCxnSpPr>
          <p:spPr>
            <a:xfrm>
              <a:off x="3688397" y="9769763"/>
              <a:ext cx="363698" cy="65345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: Elbow 32">
              <a:extLst>
                <a:ext uri="{FF2B5EF4-FFF2-40B4-BE49-F238E27FC236}">
                  <a16:creationId xmlns:a16="http://schemas.microsoft.com/office/drawing/2014/main" id="{153B07A2-9BBB-2CE0-7E45-8130C0266498}"/>
                </a:ext>
              </a:extLst>
            </p:cNvPr>
            <p:cNvCxnSpPr>
              <a:cxnSpLocks/>
              <a:stCxn id="12" idx="3"/>
              <a:endCxn id="18" idx="1"/>
            </p:cNvCxnSpPr>
            <p:nvPr/>
          </p:nvCxnSpPr>
          <p:spPr>
            <a:xfrm flipV="1">
              <a:off x="7177883" y="7706182"/>
              <a:ext cx="1936748" cy="962143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: Elbow 36">
              <a:extLst>
                <a:ext uri="{FF2B5EF4-FFF2-40B4-BE49-F238E27FC236}">
                  <a16:creationId xmlns:a16="http://schemas.microsoft.com/office/drawing/2014/main" id="{A8F02EAF-1EC9-9D5C-1258-431DC5983249}"/>
                </a:ext>
              </a:extLst>
            </p:cNvPr>
            <p:cNvCxnSpPr>
              <a:cxnSpLocks/>
              <a:stCxn id="14" idx="3"/>
              <a:endCxn id="18" idx="1"/>
            </p:cNvCxnSpPr>
            <p:nvPr/>
          </p:nvCxnSpPr>
          <p:spPr>
            <a:xfrm flipV="1">
              <a:off x="7177883" y="7706182"/>
              <a:ext cx="1936748" cy="1528414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: Elbow 38">
              <a:extLst>
                <a:ext uri="{FF2B5EF4-FFF2-40B4-BE49-F238E27FC236}">
                  <a16:creationId xmlns:a16="http://schemas.microsoft.com/office/drawing/2014/main" id="{8D08AE09-4804-B81A-C35D-EAE0CE8232BB}"/>
                </a:ext>
              </a:extLst>
            </p:cNvPr>
            <p:cNvCxnSpPr>
              <a:cxnSpLocks/>
              <a:stCxn id="16" idx="3"/>
              <a:endCxn id="18" idx="1"/>
            </p:cNvCxnSpPr>
            <p:nvPr/>
          </p:nvCxnSpPr>
          <p:spPr>
            <a:xfrm flipV="1">
              <a:off x="7177883" y="7706182"/>
              <a:ext cx="1936748" cy="2112077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: Elbow 41">
              <a:extLst>
                <a:ext uri="{FF2B5EF4-FFF2-40B4-BE49-F238E27FC236}">
                  <a16:creationId xmlns:a16="http://schemas.microsoft.com/office/drawing/2014/main" id="{4A145CE0-3A8A-A9BF-F6E5-19782977AF5D}"/>
                </a:ext>
              </a:extLst>
            </p:cNvPr>
            <p:cNvCxnSpPr>
              <a:cxnSpLocks/>
              <a:stCxn id="18" idx="2"/>
              <a:endCxn id="20" idx="0"/>
            </p:cNvCxnSpPr>
            <p:nvPr/>
          </p:nvCxnSpPr>
          <p:spPr>
            <a:xfrm rot="16200000" flipH="1">
              <a:off x="10149572" y="8023791"/>
              <a:ext cx="368518" cy="32385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: Elbow 44">
              <a:extLst>
                <a:ext uri="{FF2B5EF4-FFF2-40B4-BE49-F238E27FC236}">
                  <a16:creationId xmlns:a16="http://schemas.microsoft.com/office/drawing/2014/main" id="{8A82F017-584D-1D6A-E3A4-6E72846174B6}"/>
                </a:ext>
              </a:extLst>
            </p:cNvPr>
            <p:cNvCxnSpPr>
              <a:cxnSpLocks/>
              <a:stCxn id="20" idx="2"/>
              <a:endCxn id="22" idx="0"/>
            </p:cNvCxnSpPr>
            <p:nvPr/>
          </p:nvCxnSpPr>
          <p:spPr>
            <a:xfrm rot="16200000" flipH="1">
              <a:off x="11127799" y="8328481"/>
              <a:ext cx="447238" cy="1711325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: Elbow 47">
              <a:extLst>
                <a:ext uri="{FF2B5EF4-FFF2-40B4-BE49-F238E27FC236}">
                  <a16:creationId xmlns:a16="http://schemas.microsoft.com/office/drawing/2014/main" id="{CBA1EC98-CA28-B007-069E-0FD5C03CBBA2}"/>
                </a:ext>
              </a:extLst>
            </p:cNvPr>
            <p:cNvCxnSpPr>
              <a:cxnSpLocks/>
              <a:stCxn id="22" idx="2"/>
              <a:endCxn id="24" idx="2"/>
            </p:cNvCxnSpPr>
            <p:nvPr/>
          </p:nvCxnSpPr>
          <p:spPr>
            <a:xfrm rot="5400000" flipH="1" flipV="1">
              <a:off x="12543849" y="8623756"/>
              <a:ext cx="1037788" cy="1711325"/>
            </a:xfrm>
            <a:prstGeom prst="bentConnector3">
              <a:avLst>
                <a:gd name="adj1" fmla="val -22028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or: Elbow 50">
              <a:extLst>
                <a:ext uri="{FF2B5EF4-FFF2-40B4-BE49-F238E27FC236}">
                  <a16:creationId xmlns:a16="http://schemas.microsoft.com/office/drawing/2014/main" id="{6C60505A-6629-AC93-BAA3-05F62B894044}"/>
                </a:ext>
              </a:extLst>
            </p:cNvPr>
            <p:cNvCxnSpPr>
              <a:cxnSpLocks/>
              <a:stCxn id="24" idx="0"/>
              <a:endCxn id="26" idx="2"/>
            </p:cNvCxnSpPr>
            <p:nvPr/>
          </p:nvCxnSpPr>
          <p:spPr>
            <a:xfrm rot="5400000" flipH="1" flipV="1">
              <a:off x="13794472" y="8125391"/>
              <a:ext cx="368518" cy="12065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ctor: Elbow 53">
              <a:extLst>
                <a:ext uri="{FF2B5EF4-FFF2-40B4-BE49-F238E27FC236}">
                  <a16:creationId xmlns:a16="http://schemas.microsoft.com/office/drawing/2014/main" id="{45FDC0EF-70FA-E531-9CD4-80B31124B0CD}"/>
                </a:ext>
              </a:extLst>
            </p:cNvPr>
            <p:cNvCxnSpPr>
              <a:cxnSpLocks/>
              <a:stCxn id="26" idx="3"/>
              <a:endCxn id="28" idx="0"/>
            </p:cNvCxnSpPr>
            <p:nvPr/>
          </p:nvCxnSpPr>
          <p:spPr>
            <a:xfrm flipH="1">
              <a:off x="11973480" y="7706182"/>
              <a:ext cx="3122851" cy="4090431"/>
            </a:xfrm>
            <a:prstGeom prst="bentConnector4">
              <a:avLst>
                <a:gd name="adj1" fmla="val -7320"/>
                <a:gd name="adj2" fmla="val 75777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28483BE7-9C25-2BA9-613C-E911B872D9CD}"/>
                </a:ext>
              </a:extLst>
            </p:cNvPr>
            <p:cNvCxnSpPr>
              <a:cxnSpLocks/>
              <a:stCxn id="28" idx="2"/>
            </p:cNvCxnSpPr>
            <p:nvPr/>
          </p:nvCxnSpPr>
          <p:spPr>
            <a:xfrm flipH="1">
              <a:off x="11973479" y="12387163"/>
              <a:ext cx="1" cy="92915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EEB77A4-F975-13A5-FA7D-59FAC0730808}"/>
                </a:ext>
              </a:extLst>
            </p:cNvPr>
            <p:cNvSpPr txBox="1"/>
            <p:nvPr/>
          </p:nvSpPr>
          <p:spPr>
            <a:xfrm>
              <a:off x="8679180" y="6393180"/>
              <a:ext cx="2004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err="1"/>
                <a:t>Unet</a:t>
              </a:r>
              <a:r>
                <a:rPr lang="de-DE" dirty="0"/>
                <a:t> Architecture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64173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EB909-E86C-338E-9EA8-11B561A6D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Result</a:t>
            </a:r>
            <a:r>
              <a:rPr lang="de-DE" dirty="0"/>
              <a:t> </a:t>
            </a:r>
            <a:r>
              <a:rPr lang="de-DE" dirty="0" err="1"/>
              <a:t>images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68FC64-C3B9-53D1-CDC6-0E4996BE5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31" b="53601"/>
          <a:stretch>
            <a:fillRect/>
          </a:stretch>
        </p:blipFill>
        <p:spPr>
          <a:xfrm>
            <a:off x="770714" y="5125861"/>
            <a:ext cx="16459233" cy="3869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681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5F22E-29BC-AA81-BB66-1B69F1163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Findings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5FDBF-A09B-9578-9958-8325DC527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Data </a:t>
            </a:r>
            <a:r>
              <a:rPr lang="de-DE" dirty="0" err="1"/>
              <a:t>representation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input</a:t>
            </a:r>
            <a:endParaRPr lang="de-DE" dirty="0"/>
          </a:p>
          <a:p>
            <a:r>
              <a:rPr lang="de-DE" dirty="0"/>
              <a:t>I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list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waypoints</a:t>
            </a:r>
            <a:endParaRPr lang="de-DE" dirty="0"/>
          </a:p>
          <a:p>
            <a:r>
              <a:rPr lang="en-US" dirty="0"/>
              <a:t>Motion Planning Diffusion used list of states and actions</a:t>
            </a:r>
          </a:p>
          <a:p>
            <a:r>
              <a:rPr lang="en-US" dirty="0"/>
              <a:t>Looked into </a:t>
            </a:r>
            <a:r>
              <a:rPr lang="en-US" dirty="0" err="1"/>
              <a:t>Unet</a:t>
            </a:r>
            <a:r>
              <a:rPr lang="en-US" dirty="0"/>
              <a:t> architecture</a:t>
            </a:r>
          </a:p>
          <a:p>
            <a:r>
              <a:rPr lang="en-US" dirty="0"/>
              <a:t>Tested Architecture</a:t>
            </a:r>
          </a:p>
        </p:txBody>
      </p:sp>
    </p:spTree>
    <p:extLst>
      <p:ext uri="{BB962C8B-B14F-4D97-AF65-F5344CB8AC3E}">
        <p14:creationId xmlns:p14="http://schemas.microsoft.com/office/powerpoint/2010/main" val="364580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F9EF4-A19D-579C-E9A8-F325022B8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Next </a:t>
            </a:r>
            <a:r>
              <a:rPr lang="de-DE" dirty="0" err="1"/>
              <a:t>week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C0828-2BDC-A1FE-D81B-2C1C3F2A4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Try </a:t>
            </a:r>
            <a:r>
              <a:rPr lang="de-DE" dirty="0" err="1"/>
              <a:t>training</a:t>
            </a:r>
            <a:r>
              <a:rPr lang="de-DE" dirty="0"/>
              <a:t> on </a:t>
            </a:r>
            <a:r>
              <a:rPr lang="de-DE" dirty="0" err="1"/>
              <a:t>dataset</a:t>
            </a:r>
            <a:r>
              <a:rPr lang="de-DE" dirty="0"/>
              <a:t> </a:t>
            </a:r>
            <a:r>
              <a:rPr lang="de-DE" dirty="0" err="1"/>
              <a:t>instead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overfitting</a:t>
            </a:r>
            <a:endParaRPr lang="de-DE" dirty="0"/>
          </a:p>
          <a:p>
            <a:r>
              <a:rPr lang="de-DE" dirty="0"/>
              <a:t>Add </a:t>
            </a:r>
            <a:r>
              <a:rPr lang="de-DE" dirty="0" err="1"/>
              <a:t>further</a:t>
            </a:r>
            <a:r>
              <a:rPr lang="de-DE" dirty="0"/>
              <a:t> </a:t>
            </a:r>
            <a:r>
              <a:rPr lang="de-DE" dirty="0" err="1"/>
              <a:t>conditioning</a:t>
            </a:r>
            <a:r>
              <a:rPr lang="de-DE" dirty="0"/>
              <a:t>/</a:t>
            </a:r>
            <a:r>
              <a:rPr lang="de-DE" dirty="0" err="1"/>
              <a:t>embeddings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contraints</a:t>
            </a:r>
            <a:endParaRPr lang="de-DE" dirty="0"/>
          </a:p>
          <a:p>
            <a:r>
              <a:rPr lang="de-DE" dirty="0"/>
              <a:t>Try </a:t>
            </a:r>
            <a:r>
              <a:rPr lang="de-DE" dirty="0" err="1"/>
              <a:t>attention</a:t>
            </a:r>
            <a:r>
              <a:rPr lang="de-DE" dirty="0"/>
              <a:t> </a:t>
            </a:r>
            <a:r>
              <a:rPr lang="de-DE" dirty="0" err="1"/>
              <a:t>layers</a:t>
            </a:r>
            <a:r>
              <a:rPr lang="de-DE" dirty="0"/>
              <a:t>? –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worth</a:t>
            </a:r>
            <a:r>
              <a:rPr lang="de-DE" dirty="0"/>
              <a:t> to </a:t>
            </a:r>
            <a:r>
              <a:rPr lang="de-DE"/>
              <a:t>try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955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89</Words>
  <Application>Microsoft Office PowerPoint</Application>
  <PresentationFormat>Custom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Meeting 23.07.</vt:lpstr>
      <vt:lpstr>Architecture</vt:lpstr>
      <vt:lpstr>Result images</vt:lpstr>
      <vt:lpstr>Findings this week</vt:lpstr>
      <vt:lpstr>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Philipp Schönfeld</dc:creator>
  <cp:lastModifiedBy>Philipp Schönfeld</cp:lastModifiedBy>
  <cp:revision>2</cp:revision>
  <dcterms:created xsi:type="dcterms:W3CDTF">2026-07-23T08:37:49Z</dcterms:created>
  <dcterms:modified xsi:type="dcterms:W3CDTF">2026-09-09T16:32:58Z</dcterms:modified>
</cp:coreProperties>
</file>